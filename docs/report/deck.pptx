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8aea1eb4-5d6e-6015-0a1b-e3a70861c41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ppendix" id="{7a7de8a5-d67f-6b68-5b85-a7af37bcf459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M1 (0:00–0:10). Rassah, رصّة: the packer types an order number and gets the cheapest safe carton, instructions and a 3D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M1 (0:10–0:30). Three problems: volumetric weight, breakage, and missing product data. Say honestly that problem size is a hypothesis.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M1 (0:30–0:45). Before: guesswork. After: order number in, carton, instructions and 3D layout out, with the packer still in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M1 (0:45–1:00). Three steps. Gemini only reads text. The engine searches positions. A validator that shares no code with the engine checks every layout before the packer sees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M1 (Q&amp;A backup, or 10 s in the pitch). Source tags page / inferred / unknown. Inferred values get a safety margin; unknown stops the order. Extraction (30 synthetic products, 10 holdout, gemini-3.5-flash-lite): 100% parse, dims within 1 cm 100%, honesty on no-info products 100%, estimated-size error 12.9% in the latest run (14.3% in the first; holdout 16.1% vs 18.2%, only 4 products; LLM run-to-run variation; one fragile false positive in run 2), so the 15% margin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M2 (1:00–1:50). Follow docs/demo-script.md. If anything fails, switch to the backup video within 10 seconds. Outage story (simulated Gemini outage → M6 critical alert) is kept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M2 (1:50–2:20). Validity 100%, zero false claims, recall 20 of 20 on the hardest exact-fill cases, and the naive baseline breaks a rule in 20 of 28 layouts. We do not claim savings. Extraction: 100% parse, dims within 1 cm 100%, honesty 100%, estimated-dim error 12.9% (first run 14.3%; holdout 16.1% vs 18.2%, run-to-run variation).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M3 (2:20–2:40). Each metric is tied to a failure it reveals; red = critical alert rules. One-line investigation story. In Q&amp;A: the simulated Gemini outage raises the M6 critical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M3 (2:40–2:55). State limits plainly. The ask: one merchant, 100 real orders, so the savings claim can be measured instead of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briefly or skipped in the 3 minutes; it documents the speaker split (all three speak). Q&amp;A: any member answers any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M3 (2:55–3:00). Thank the judges; repo and live URL on screen. Live URL is final: https://rassah.vercel.app.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call route handlers; lib/pipeline orchestrates cache → Gemini → engine → validator → events. lib/engine is pure TypeScript with no I/O.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built (docs/decisions.md, 2026-10-21): agents work in worktrees, work is merged locally and must pass the local CI gate (agent-ship ci: secret scan, floor guard, lint, typecheck, tests, build, packing eval) before being pushed straight to main. GitHub Actions CI re-runs and Vercel deploys production from main. There was no per-PR review and no branch protection. Production problems come back through the dashboard as issues. The diagram image docs/report/diagram-dev-flow.png shows the original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pack request writes extraction events, an order run and any corrections, all linked by run_id. Metrics are computed over a window excluding eval traffic; alert rules need a minimum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from REPORT.md section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TOOLS.md.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Rassah · رصّة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justAbdulaziz10/Rassah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-box-1"/>
          <p:cNvSpPr/>
          <p:nvPr/>
        </p:nvSpPr>
        <p:spPr>
          <a:xfrm>
            <a:off x="6400800" y="2331720"/>
            <a:ext cx="2011680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" name="motif-box-2"/>
          <p:cNvSpPr/>
          <p:nvPr/>
        </p:nvSpPr>
        <p:spPr>
          <a:xfrm>
            <a:off x="6720840" y="1417320"/>
            <a:ext cx="1143000" cy="86868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4" name="motif-box-3"/>
          <p:cNvSpPr/>
          <p:nvPr/>
        </p:nvSpPr>
        <p:spPr>
          <a:xfrm>
            <a:off x="7909560" y="178308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txt-1"/>
          <p:cNvSpPr txBox="1"/>
          <p:nvPr/>
        </p:nvSpPr>
        <p:spPr>
          <a:xfrm>
            <a:off x="548640" y="822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Rassah</a:t>
            </a:r>
            <a:endParaRPr lang="en-US" sz="6000" dirty="0"/>
          </a:p>
        </p:txBody>
      </p:sp>
      <p:sp>
        <p:nvSpPr>
          <p:cNvPr id="6" name="txt-2"/>
          <p:cNvSpPr txBox="1"/>
          <p:nvPr/>
        </p:nvSpPr>
        <p:spPr>
          <a:xfrm>
            <a:off x="5486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رصّة</a:t>
            </a:r>
            <a:endParaRPr lang="en-US" sz="4400" dirty="0"/>
          </a:p>
        </p:txBody>
      </p:sp>
      <p:sp>
        <p:nvSpPr>
          <p:cNvPr id="7" name="txt-3"/>
          <p:cNvSpPr txBox="1"/>
          <p:nvPr/>
        </p:nvSpPr>
        <p:spPr>
          <a:xfrm>
            <a:off x="548640" y="2651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Type an order number. Get the cheapest safe carton, numbered packing instructions and a 3D layout, from messy product pages.</a:t>
            </a:r>
            <a:endParaRPr lang="en-US" sz="1800" dirty="0"/>
          </a:p>
        </p:txBody>
      </p:sp>
      <p:sp>
        <p:nvSpPr>
          <p:cNvPr id="8" name="txt-4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AI packing assistant for Saudi e-commerce</a:t>
            </a:r>
            <a:endParaRPr lang="en-US" sz="1400" dirty="0"/>
          </a:p>
        </p:txBody>
      </p:sp>
      <p:sp>
        <p:nvSpPr>
          <p:cNvPr id="9" name="txt-5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Project 1: AI Product Development and Monitoring · Tuwaiq Academy × Startupbootcamp × Meta · 22 Oct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Team: M1 AI &amp; Data · M2 Engine &amp; UI · M3 Platform &amp;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Packers pick cartons by eye</a:t>
            </a:r>
            <a:endParaRPr lang="en-US" sz="3000" dirty="0"/>
          </a:p>
        </p:txBody>
      </p:sp>
      <p:sp>
        <p:nvSpPr>
          <p:cNvPr id="3" name="card-6"/>
          <p:cNvSpPr/>
          <p:nvPr/>
        </p:nvSpPr>
        <p:spPr>
          <a:xfrm>
            <a:off x="457200" y="1143000"/>
            <a:ext cx="2596896" cy="292608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badge-7"/>
          <p:cNvSpPr/>
          <p:nvPr/>
        </p:nvSpPr>
        <p:spPr>
          <a:xfrm>
            <a:off x="685800" y="1371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badgetxt-8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xt-9"/>
          <p:cNvSpPr txBox="1"/>
          <p:nvPr/>
        </p:nvSpPr>
        <p:spPr>
          <a:xfrm>
            <a:off x="685800" y="190195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Oversized cartons cost money</a:t>
            </a:r>
            <a:endParaRPr lang="en-US" sz="1600" dirty="0"/>
          </a:p>
        </p:txBody>
      </p:sp>
      <p:sp>
        <p:nvSpPr>
          <p:cNvPr id="7" name="txt-10"/>
          <p:cNvSpPr txBox="1"/>
          <p:nvPr/>
        </p:nvSpPr>
        <p:spPr>
          <a:xfrm>
            <a:off x="685800" y="2560320"/>
            <a:ext cx="2157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Couriers bill the larger of actual and volumetric weight (L × W × H / 5000). A light order in a big box pays for air.</a:t>
            </a:r>
            <a:endParaRPr lang="en-US" sz="1300" dirty="0"/>
          </a:p>
        </p:txBody>
      </p:sp>
      <p:sp>
        <p:nvSpPr>
          <p:cNvPr id="8" name="card-11"/>
          <p:cNvSpPr/>
          <p:nvPr/>
        </p:nvSpPr>
        <p:spPr>
          <a:xfrm>
            <a:off x="3273552" y="1143000"/>
            <a:ext cx="2596896" cy="292608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badge-12"/>
          <p:cNvSpPr/>
          <p:nvPr/>
        </p:nvSpPr>
        <p:spPr>
          <a:xfrm>
            <a:off x="3502152" y="1371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0" name="badgetxt-13"/>
          <p:cNvSpPr txBox="1"/>
          <p:nvPr/>
        </p:nvSpPr>
        <p:spPr>
          <a:xfrm>
            <a:off x="350215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-14"/>
          <p:cNvSpPr txBox="1"/>
          <p:nvPr/>
        </p:nvSpPr>
        <p:spPr>
          <a:xfrm>
            <a:off x="3502152" y="190195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Fragile items break, liquids leak</a:t>
            </a:r>
            <a:endParaRPr lang="en-US" sz="1600" dirty="0"/>
          </a:p>
        </p:txBody>
      </p:sp>
      <p:sp>
        <p:nvSpPr>
          <p:cNvPr id="12" name="txt-15"/>
          <p:cNvSpPr txBox="1"/>
          <p:nvPr/>
        </p:nvSpPr>
        <p:spPr>
          <a:xfrm>
            <a:off x="3502152" y="2560320"/>
            <a:ext cx="2157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new packer puts a book on a perfume bottle, or lays an oil bottle flat. Breakage means returns.</a:t>
            </a:r>
            <a:endParaRPr lang="en-US" sz="1300" dirty="0"/>
          </a:p>
        </p:txBody>
      </p:sp>
      <p:sp>
        <p:nvSpPr>
          <p:cNvPr id="13" name="card-16"/>
          <p:cNvSpPr/>
          <p:nvPr/>
        </p:nvSpPr>
        <p:spPr>
          <a:xfrm>
            <a:off x="6089904" y="1143000"/>
            <a:ext cx="2596896" cy="292608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badge-17"/>
          <p:cNvSpPr/>
          <p:nvPr/>
        </p:nvSpPr>
        <p:spPr>
          <a:xfrm>
            <a:off x="6318504" y="1371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5" name="badgetxt-18"/>
          <p:cNvSpPr txBox="1"/>
          <p:nvPr/>
        </p:nvSpPr>
        <p:spPr>
          <a:xfrm>
            <a:off x="6318504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xt-19"/>
          <p:cNvSpPr txBox="1"/>
          <p:nvPr/>
        </p:nvSpPr>
        <p:spPr>
          <a:xfrm>
            <a:off x="6318504" y="190195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data doesn't exist</a:t>
            </a:r>
            <a:endParaRPr lang="en-US" sz="1600" dirty="0"/>
          </a:p>
        </p:txBody>
      </p:sp>
      <p:sp>
        <p:nvSpPr>
          <p:cNvPr id="17" name="txt-20"/>
          <p:cNvSpPr txBox="1"/>
          <p:nvPr/>
        </p:nvSpPr>
        <p:spPr>
          <a:xfrm>
            <a:off x="6318504" y="2560320"/>
            <a:ext cx="2157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Cartonization tools assume clean dimensions in a warehouse system. Small Saudi merchants only have free-text product pages in Arabic and English.</a:t>
            </a:r>
            <a:endParaRPr lang="en-US" sz="1300" dirty="0"/>
          </a:p>
        </p:txBody>
      </p:sp>
      <p:sp>
        <p:nvSpPr>
          <p:cNvPr id="18" name="txt-21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Problem size is a hypothesis: we did not contact merchants, and all data is synthetic.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Before and after Rassah</a:t>
            </a:r>
            <a:endParaRPr lang="en-US" sz="3000" dirty="0"/>
          </a:p>
        </p:txBody>
      </p:sp>
      <p:sp>
        <p:nvSpPr>
          <p:cNvPr id="3" name="card-22"/>
          <p:cNvSpPr/>
          <p:nvPr/>
        </p:nvSpPr>
        <p:spPr>
          <a:xfrm>
            <a:off x="457200" y="1097280"/>
            <a:ext cx="37490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-23"/>
          <p:cNvSpPr/>
          <p:nvPr/>
        </p:nvSpPr>
        <p:spPr>
          <a:xfrm>
            <a:off x="4937760" y="1097280"/>
            <a:ext cx="3749040" cy="2834640"/>
          </a:xfrm>
          <a:prstGeom prst="roundRect">
            <a:avLst>
              <a:gd name="adj" fmla="val 258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txt-24"/>
          <p:cNvSpPr txBox="1"/>
          <p:nvPr/>
        </p:nvSpPr>
        <p:spPr>
          <a:xfrm>
            <a:off x="73152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Before</a:t>
            </a:r>
            <a:endParaRPr lang="en-US" sz="2000" dirty="0"/>
          </a:p>
        </p:txBody>
      </p:sp>
      <p:sp>
        <p:nvSpPr>
          <p:cNvPr id="6" name="txt-25"/>
          <p:cNvSpPr txBox="1"/>
          <p:nvPr/>
        </p:nvSpPr>
        <p:spPr>
          <a:xfrm>
            <a:off x="521208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After</a:t>
            </a:r>
            <a:endParaRPr lang="en-US" sz="2000" dirty="0"/>
          </a:p>
        </p:txBody>
      </p:sp>
      <p:sp>
        <p:nvSpPr>
          <p:cNvPr id="7" name="before-list"/>
          <p:cNvSpPr txBox="1"/>
          <p:nvPr/>
        </p:nvSpPr>
        <p:spPr>
          <a:xfrm>
            <a:off x="731520" y="182880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Packer guesses the carton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sizes unknown or buried in text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packers learn by breaking things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record of what went wrong</a:t>
            </a:r>
            <a:endParaRPr lang="en-US" sz="1400" dirty="0"/>
          </a:p>
        </p:txBody>
      </p:sp>
      <p:sp>
        <p:nvSpPr>
          <p:cNvPr id="8" name="after-list"/>
          <p:cNvSpPr txBox="1"/>
          <p:nvPr/>
        </p:nvSpPr>
        <p:spPr>
          <a:xfrm>
            <a:off x="5212080" y="182880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Packer types an order number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Gemini reads each product page once (cached)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Cheapest valid carton + numbered Arabic steps + 3D view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Packer confirms or corrects; every correction is measured</a:t>
            </a:r>
            <a:endParaRPr lang="en-US" sz="1400" dirty="0"/>
          </a:p>
        </p:txBody>
      </p:sp>
      <p:sp>
        <p:nvSpPr>
          <p:cNvPr id="9" name="arrow-26"/>
          <p:cNvSpPr/>
          <p:nvPr/>
        </p:nvSpPr>
        <p:spPr>
          <a:xfrm>
            <a:off x="4315968" y="2743200"/>
            <a:ext cx="51206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card-27"/>
          <p:cNvSpPr/>
          <p:nvPr/>
        </p:nvSpPr>
        <p:spPr>
          <a:xfrm>
            <a:off x="457200" y="1188720"/>
            <a:ext cx="24688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badge-28"/>
          <p:cNvSpPr/>
          <p:nvPr/>
        </p:nvSpPr>
        <p:spPr>
          <a:xfrm>
            <a:off x="658368" y="1371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badgetxt-29"/>
          <p:cNvSpPr txBox="1"/>
          <p:nvPr/>
        </p:nvSpPr>
        <p:spPr>
          <a:xfrm>
            <a:off x="65836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xt-30"/>
          <p:cNvSpPr txBox="1"/>
          <p:nvPr/>
        </p:nvSpPr>
        <p:spPr>
          <a:xfrm>
            <a:off x="1170432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LLM</a:t>
            </a:r>
            <a:endParaRPr lang="en-US" sz="1200" dirty="0"/>
          </a:p>
        </p:txBody>
      </p:sp>
      <p:sp>
        <p:nvSpPr>
          <p:cNvPr id="7" name="txt-31"/>
          <p:cNvSpPr txBox="1"/>
          <p:nvPr/>
        </p:nvSpPr>
        <p:spPr>
          <a:xfrm>
            <a:off x="658368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Gemini understands</a:t>
            </a:r>
            <a:endParaRPr lang="en-US" sz="1700" dirty="0"/>
          </a:p>
        </p:txBody>
      </p:sp>
      <p:sp>
        <p:nvSpPr>
          <p:cNvPr id="8" name="txt-32"/>
          <p:cNvSpPr txBox="1"/>
          <p:nvPr/>
        </p:nvSpPr>
        <p:spPr>
          <a:xfrm>
            <a:off x="658368" y="2286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Product text → outer dimensions, weight, fragile / liquid / sensitive flags, source of each value, evidence quote</a:t>
            </a:r>
            <a:endParaRPr lang="en-US" sz="1250" dirty="0"/>
          </a:p>
        </p:txBody>
      </p:sp>
      <p:sp>
        <p:nvSpPr>
          <p:cNvPr id="9" name="arrow-33"/>
          <p:cNvSpPr/>
          <p:nvPr/>
        </p:nvSpPr>
        <p:spPr>
          <a:xfrm>
            <a:off x="2962656" y="2395728"/>
            <a:ext cx="29260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card-34"/>
          <p:cNvSpPr/>
          <p:nvPr/>
        </p:nvSpPr>
        <p:spPr>
          <a:xfrm>
            <a:off x="3291840" y="1188720"/>
            <a:ext cx="24688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badge-35"/>
          <p:cNvSpPr/>
          <p:nvPr/>
        </p:nvSpPr>
        <p:spPr>
          <a:xfrm>
            <a:off x="3493008" y="1371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2" name="badgetxt-36"/>
          <p:cNvSpPr txBox="1"/>
          <p:nvPr/>
        </p:nvSpPr>
        <p:spPr>
          <a:xfrm>
            <a:off x="349300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xt-37"/>
          <p:cNvSpPr txBox="1"/>
          <p:nvPr/>
        </p:nvSpPr>
        <p:spPr>
          <a:xfrm>
            <a:off x="4005072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Search</a:t>
            </a:r>
            <a:endParaRPr lang="en-US" sz="1200" dirty="0"/>
          </a:p>
        </p:txBody>
      </p:sp>
      <p:sp>
        <p:nvSpPr>
          <p:cNvPr id="14" name="txt-38"/>
          <p:cNvSpPr txBox="1"/>
          <p:nvPr/>
        </p:nvSpPr>
        <p:spPr>
          <a:xfrm>
            <a:off x="3493008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Engine computes</a:t>
            </a:r>
            <a:endParaRPr lang="en-US" sz="1700" dirty="0"/>
          </a:p>
        </p:txBody>
      </p:sp>
      <p:sp>
        <p:nvSpPr>
          <p:cNvPr id="15" name="txt-39"/>
          <p:cNvSpPr txBox="1"/>
          <p:nvPr/>
        </p:nvSpPr>
        <p:spPr>
          <a:xfrm>
            <a:off x="3493008" y="2286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3D packing search: corner grid × rotations × 9 strategies + 40 seeded restarts, per carton</a:t>
            </a:r>
            <a:endParaRPr lang="en-US" sz="1250" dirty="0"/>
          </a:p>
        </p:txBody>
      </p:sp>
      <p:sp>
        <p:nvSpPr>
          <p:cNvPr id="16" name="arrow-40"/>
          <p:cNvSpPr/>
          <p:nvPr/>
        </p:nvSpPr>
        <p:spPr>
          <a:xfrm>
            <a:off x="5797296" y="2395728"/>
            <a:ext cx="29260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card-41"/>
          <p:cNvSpPr/>
          <p:nvPr/>
        </p:nvSpPr>
        <p:spPr>
          <a:xfrm>
            <a:off x="6126480" y="1188720"/>
            <a:ext cx="24688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badge-42"/>
          <p:cNvSpPr/>
          <p:nvPr/>
        </p:nvSpPr>
        <p:spPr>
          <a:xfrm>
            <a:off x="6327648" y="1371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9" name="badgetxt-43"/>
          <p:cNvSpPr txBox="1"/>
          <p:nvPr/>
        </p:nvSpPr>
        <p:spPr>
          <a:xfrm>
            <a:off x="632764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xt-44"/>
          <p:cNvSpPr txBox="1"/>
          <p:nvPr/>
        </p:nvSpPr>
        <p:spPr>
          <a:xfrm>
            <a:off x="6839712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Geometry</a:t>
            </a:r>
            <a:endParaRPr lang="en-US" sz="1200" dirty="0"/>
          </a:p>
        </p:txBody>
      </p:sp>
      <p:sp>
        <p:nvSpPr>
          <p:cNvPr id="21" name="txt-45"/>
          <p:cNvSpPr txBox="1"/>
          <p:nvPr/>
        </p:nvSpPr>
        <p:spPr>
          <a:xfrm>
            <a:off x="6327648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Validator proves</a:t>
            </a:r>
            <a:endParaRPr lang="en-US" sz="1700" dirty="0"/>
          </a:p>
        </p:txBody>
      </p:sp>
      <p:sp>
        <p:nvSpPr>
          <p:cNvPr id="22" name="txt-46"/>
          <p:cNvSpPr txBox="1"/>
          <p:nvPr/>
        </p:nvSpPr>
        <p:spPr>
          <a:xfrm>
            <a:off x="6327648" y="2286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Independent code: no overlap, ≥ 70% base support, nothing on fragile, liquids upright, weight limit</a:t>
            </a:r>
            <a:endParaRPr lang="en-US" sz="1250" dirty="0"/>
          </a:p>
        </p:txBody>
      </p:sp>
      <p:sp>
        <p:nvSpPr>
          <p:cNvPr id="23" name="txt-47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The LLM understands, the engine computes, the validator proves.</a:t>
            </a:r>
            <a:endParaRPr lang="en-US" sz="1800" dirty="0"/>
          </a:p>
        </p:txBody>
      </p:sp>
      <p:sp>
        <p:nvSpPr>
          <p:cNvPr id="24" name="txt-4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Output: the cheapest valid carton by estimated carton + shipping cost. If nothing fits, Rassah says 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extraction with honesty rules</a:t>
            </a:r>
            <a:endParaRPr lang="en-US" sz="3000" dirty="0"/>
          </a:p>
        </p:txBody>
      </p:sp>
      <p:sp>
        <p:nvSpPr>
          <p:cNvPr id="3" name="txt-49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value carries its source</a:t>
            </a:r>
            <a:endParaRPr lang="en-US" sz="1600" dirty="0"/>
          </a:p>
        </p:txBody>
      </p:sp>
      <p:sp>
        <p:nvSpPr>
          <p:cNvPr id="4" name="chip-50"/>
          <p:cNvSpPr/>
          <p:nvPr/>
        </p:nvSpPr>
        <p:spPr>
          <a:xfrm>
            <a:off x="457200" y="1600200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xt-51"/>
          <p:cNvSpPr txBox="1"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page</a:t>
            </a:r>
            <a:endParaRPr lang="en-US" sz="1300" dirty="0"/>
          </a:p>
        </p:txBody>
      </p:sp>
      <p:sp>
        <p:nvSpPr>
          <p:cNvPr id="6" name="txt-52"/>
          <p:cNvSpPr txBox="1"/>
          <p:nvPr/>
        </p:nvSpPr>
        <p:spPr>
          <a:xfrm>
            <a:off x="169164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Stated on the product page, with the evidence quote</a:t>
            </a:r>
            <a:endParaRPr lang="en-US" sz="1300" dirty="0"/>
          </a:p>
        </p:txBody>
      </p:sp>
      <p:sp>
        <p:nvSpPr>
          <p:cNvPr id="7" name="chip-53"/>
          <p:cNvSpPr/>
          <p:nvPr/>
        </p:nvSpPr>
        <p:spPr>
          <a:xfrm>
            <a:off x="457200" y="2468880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xt-54"/>
          <p:cNvSpPr txBox="1"/>
          <p:nvPr/>
        </p:nvSpPr>
        <p:spPr>
          <a:xfrm>
            <a:off x="457200" y="2468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inferred</a:t>
            </a:r>
            <a:endParaRPr lang="en-US" sz="1300" dirty="0"/>
          </a:p>
        </p:txBody>
      </p:sp>
      <p:sp>
        <p:nvSpPr>
          <p:cNvPr id="9" name="txt-55"/>
          <p:cNvSpPr txBox="1"/>
          <p:nvPr/>
        </p:nvSpPr>
        <p:spPr>
          <a:xfrm>
            <a:off x="169164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Estimated from clues (50 ml, 400 pages). Gets a 15% safety margin and an “estimated” badge</a:t>
            </a:r>
            <a:endParaRPr lang="en-US" sz="1300" dirty="0"/>
          </a:p>
        </p:txBody>
      </p:sp>
      <p:sp>
        <p:nvSpPr>
          <p:cNvPr id="10" name="chip-56"/>
          <p:cNvSpPr/>
          <p:nvPr/>
        </p:nvSpPr>
        <p:spPr>
          <a:xfrm>
            <a:off x="457200" y="3337560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1" name="txt-57"/>
          <p:cNvSpPr txBox="1"/>
          <p:nvPr/>
        </p:nvSpPr>
        <p:spPr>
          <a:xfrm>
            <a:off x="457200" y="3337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unknown</a:t>
            </a:r>
            <a:endParaRPr lang="en-US" sz="1300" dirty="0"/>
          </a:p>
        </p:txBody>
      </p:sp>
      <p:sp>
        <p:nvSpPr>
          <p:cNvPr id="12" name="txt-58"/>
          <p:cNvSpPr txBox="1"/>
          <p:nvPr/>
        </p:nvSpPr>
        <p:spPr>
          <a:xfrm>
            <a:off x="169164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basis. The order stops: “needs measurement”</a:t>
            </a:r>
            <a:endParaRPr lang="en-US" sz="1300" dirty="0"/>
          </a:p>
        </p:txBody>
      </p:sp>
      <p:sp>
        <p:nvSpPr>
          <p:cNvPr id="13" name="card-59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txt-60"/>
          <p:cNvSpPr txBox="1"/>
          <p:nvPr/>
        </p:nvSpPr>
        <p:spPr>
          <a:xfrm>
            <a:off x="489204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Rules the system enforces</a:t>
            </a:r>
            <a:endParaRPr lang="en-US" sz="1600" dirty="0"/>
          </a:p>
        </p:txBody>
      </p:sp>
      <p:sp>
        <p:nvSpPr>
          <p:cNvPr id="15" name="rules-list"/>
          <p:cNvSpPr txBox="1"/>
          <p:nvPr/>
        </p:nvSpPr>
        <p:spPr>
          <a:xfrm>
            <a:off x="4892040" y="1719072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Never invent a value or a layout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JSON schema + Zod check on every Gemini response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Product text is passed as data, not instructions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extraction per product, cached; packer corrections are never overwritten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Gemini failure → visible “extraction failed”, logged, alerted</a:t>
            </a:r>
            <a:endParaRPr lang="en-US" sz="1300" dirty="0"/>
          </a:p>
        </p:txBody>
      </p:sp>
      <p:sp>
        <p:nvSpPr>
          <p:cNvPr id="16" name="txt-61"/>
          <p:cNvSpPr txBox="1"/>
          <p:nvPr/>
        </p:nvSpPr>
        <p:spPr>
          <a:xfrm>
            <a:off x="45720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The 15% margin will be checked against the measured inferred-size error (extraction eval, two runs: holdout 16.1%, all 12.9%).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Live demo</a:t>
            </a:r>
            <a:endParaRPr lang="en-US" sz="3000" dirty="0"/>
          </a:p>
        </p:txBody>
      </p:sp>
      <p:sp>
        <p:nvSpPr>
          <p:cNvPr id="3" name="card-62"/>
          <p:cNvSpPr/>
          <p:nvPr/>
        </p:nvSpPr>
        <p:spPr>
          <a:xfrm>
            <a:off x="457200" y="1097280"/>
            <a:ext cx="45720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demo-key-63"/>
          <p:cNvSpPr/>
          <p:nvPr/>
        </p:nvSpPr>
        <p:spPr>
          <a:xfrm>
            <a:off x="548640" y="1188720"/>
            <a:ext cx="10058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xt-64"/>
          <p:cNvSpPr txBox="1"/>
          <p:nvPr/>
        </p:nvSpPr>
        <p:spPr>
          <a:xfrm>
            <a:off x="548640" y="1188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1001</a:t>
            </a:r>
            <a:endParaRPr lang="en-US" sz="1300" dirty="0"/>
          </a:p>
        </p:txBody>
      </p:sp>
      <p:sp>
        <p:nvSpPr>
          <p:cNvPr id="6" name="txt-65"/>
          <p:cNvSpPr txBox="1"/>
          <p:nvPr/>
        </p:nvSpPr>
        <p:spPr>
          <a:xfrm>
            <a:off x="1645920" y="10972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Single book → smallest suitable carton</a:t>
            </a:r>
            <a:endParaRPr lang="en-US" sz="1400" dirty="0"/>
          </a:p>
        </p:txBody>
      </p:sp>
      <p:sp>
        <p:nvSpPr>
          <p:cNvPr id="7" name="card-66"/>
          <p:cNvSpPr/>
          <p:nvPr/>
        </p:nvSpPr>
        <p:spPr>
          <a:xfrm>
            <a:off x="457200" y="1755648"/>
            <a:ext cx="4572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8" name="demo-key-67"/>
          <p:cNvSpPr/>
          <p:nvPr/>
        </p:nvSpPr>
        <p:spPr>
          <a:xfrm>
            <a:off x="548640" y="1847088"/>
            <a:ext cx="10058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xt-68"/>
          <p:cNvSpPr txBox="1"/>
          <p:nvPr/>
        </p:nvSpPr>
        <p:spPr>
          <a:xfrm>
            <a:off x="548640" y="18470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1002</a:t>
            </a:r>
            <a:endParaRPr lang="en-US" sz="1300" dirty="0"/>
          </a:p>
        </p:txBody>
      </p:sp>
      <p:sp>
        <p:nvSpPr>
          <p:cNvPr id="10" name="txt-69"/>
          <p:cNvSpPr txBox="1"/>
          <p:nvPr/>
        </p:nvSpPr>
        <p:spPr>
          <a:xfrm>
            <a:off x="1645920" y="17556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Perfume with no dimensions: inferred, padded, upright, on top. Numbered steps + 3D slider</a:t>
            </a:r>
            <a:endParaRPr lang="en-US" sz="1400" dirty="0"/>
          </a:p>
        </p:txBody>
      </p:sp>
      <p:sp>
        <p:nvSpPr>
          <p:cNvPr id="11" name="card-70"/>
          <p:cNvSpPr/>
          <p:nvPr/>
        </p:nvSpPr>
        <p:spPr>
          <a:xfrm>
            <a:off x="457200" y="2414016"/>
            <a:ext cx="45720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demo-key-71"/>
          <p:cNvSpPr/>
          <p:nvPr/>
        </p:nvSpPr>
        <p:spPr>
          <a:xfrm>
            <a:off x="548640" y="2505456"/>
            <a:ext cx="10058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txt-72"/>
          <p:cNvSpPr txBox="1"/>
          <p:nvPr/>
        </p:nvSpPr>
        <p:spPr>
          <a:xfrm>
            <a:off x="548640" y="25054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Edit</a:t>
            </a:r>
            <a:endParaRPr lang="en-US" sz="1300" dirty="0"/>
          </a:p>
        </p:txBody>
      </p:sp>
      <p:sp>
        <p:nvSpPr>
          <p:cNvPr id="14" name="txt-73"/>
          <p:cNvSpPr txBox="1"/>
          <p:nvPr/>
        </p:nvSpPr>
        <p:spPr>
          <a:xfrm>
            <a:off x="1645920" y="24140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Packer corrects a value → recorded as a correction (metric M1)</a:t>
            </a:r>
            <a:endParaRPr lang="en-US" sz="1400" dirty="0"/>
          </a:p>
        </p:txBody>
      </p:sp>
      <p:sp>
        <p:nvSpPr>
          <p:cNvPr id="15" name="card-74"/>
          <p:cNvSpPr/>
          <p:nvPr/>
        </p:nvSpPr>
        <p:spPr>
          <a:xfrm>
            <a:off x="457200" y="3072384"/>
            <a:ext cx="45720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16" name="demo-key-75"/>
          <p:cNvSpPr/>
          <p:nvPr/>
        </p:nvSpPr>
        <p:spPr>
          <a:xfrm>
            <a:off x="548640" y="3163824"/>
            <a:ext cx="10058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txt-76"/>
          <p:cNvSpPr txBox="1"/>
          <p:nvPr/>
        </p:nvSpPr>
        <p:spPr>
          <a:xfrm>
            <a:off x="548640" y="3163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1020</a:t>
            </a:r>
            <a:endParaRPr lang="en-US" sz="1300" dirty="0"/>
          </a:p>
        </p:txBody>
      </p:sp>
      <p:sp>
        <p:nvSpPr>
          <p:cNvPr id="18" name="txt-77"/>
          <p:cNvSpPr txBox="1"/>
          <p:nvPr/>
        </p:nvSpPr>
        <p:spPr>
          <a:xfrm>
            <a:off x="1645920" y="307238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≈ 20.5 kg: every carton too small or too weak. Rassah says so</a:t>
            </a:r>
            <a:endParaRPr lang="en-US" sz="1400" dirty="0"/>
          </a:p>
        </p:txBody>
      </p:sp>
      <p:sp>
        <p:nvSpPr>
          <p:cNvPr id="19" name="card-78"/>
          <p:cNvSpPr/>
          <p:nvPr/>
        </p:nvSpPr>
        <p:spPr>
          <a:xfrm>
            <a:off x="457200" y="3730752"/>
            <a:ext cx="45720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demo-key-79"/>
          <p:cNvSpPr/>
          <p:nvPr/>
        </p:nvSpPr>
        <p:spPr>
          <a:xfrm>
            <a:off x="548640" y="3822192"/>
            <a:ext cx="10058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xt-80"/>
          <p:cNvSpPr txBox="1"/>
          <p:nvPr/>
        </p:nvSpPr>
        <p:spPr>
          <a:xfrm>
            <a:off x="548640" y="38221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/monitoring</a:t>
            </a:r>
            <a:endParaRPr lang="en-US" sz="1300" dirty="0"/>
          </a:p>
        </p:txBody>
      </p:sp>
      <p:sp>
        <p:nvSpPr>
          <p:cNvPr id="22" name="txt-81"/>
          <p:cNvSpPr txBox="1"/>
          <p:nvPr/>
        </p:nvSpPr>
        <p:spPr>
          <a:xfrm>
            <a:off x="1645920" y="3730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Correction rate, Gemini failures, p95 latency; click a run for its trace</a:t>
            </a:r>
            <a:endParaRPr lang="en-US" sz="1400" dirty="0"/>
          </a:p>
        </p:txBody>
      </p:sp>
      <p:sp>
        <p:nvSpPr>
          <p:cNvPr id="23" name="txt-8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Backup if the live demo fails: recorded video docs/report/demo.mp4 and backup screenshots in docs/report/screens/.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26" name="img-order-1002" descr="02-order-1002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02486"/>
            <a:ext cx="3474720" cy="217170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Packing evaluation: 60 seeded fixtures</a:t>
            </a:r>
            <a:endParaRPr lang="en-US" sz="3000" dirty="0"/>
          </a:p>
        </p:txBody>
      </p:sp>
      <p:sp>
        <p:nvSpPr>
          <p:cNvPr id="3" name="card-83"/>
          <p:cNvSpPr/>
          <p:nvPr/>
        </p:nvSpPr>
        <p:spPr>
          <a:xfrm>
            <a:off x="457200" y="1143000"/>
            <a:ext cx="1920240" cy="2240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xt-84"/>
          <p:cNvSpPr txBox="1"/>
          <p:nvPr/>
        </p:nvSpPr>
        <p:spPr>
          <a:xfrm>
            <a:off x="54864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40 / 40</a:t>
            </a:r>
            <a:endParaRPr lang="en-US" sz="3400" dirty="0"/>
          </a:p>
        </p:txBody>
      </p:sp>
      <p:sp>
        <p:nvSpPr>
          <p:cNvPr id="5" name="txt-85"/>
          <p:cNvSpPr txBox="1"/>
          <p:nvPr/>
        </p:nvSpPr>
        <p:spPr>
          <a:xfrm>
            <a:off x="640080" y="21945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 layouts pass the independent validator</a:t>
            </a:r>
            <a:endParaRPr lang="en-US" sz="1300" dirty="0"/>
          </a:p>
        </p:txBody>
      </p:sp>
      <p:sp>
        <p:nvSpPr>
          <p:cNvPr id="6" name="card-86"/>
          <p:cNvSpPr/>
          <p:nvPr/>
        </p:nvSpPr>
        <p:spPr>
          <a:xfrm>
            <a:off x="2560320" y="1143000"/>
            <a:ext cx="1920240" cy="2240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xt-87"/>
          <p:cNvSpPr txBox="1"/>
          <p:nvPr/>
        </p:nvSpPr>
        <p:spPr>
          <a:xfrm>
            <a:off x="265176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0 / 20</a:t>
            </a:r>
            <a:endParaRPr lang="en-US" sz="3400" dirty="0"/>
          </a:p>
        </p:txBody>
      </p:sp>
      <p:sp>
        <p:nvSpPr>
          <p:cNvPr id="8" name="txt-88"/>
          <p:cNvSpPr txBox="1"/>
          <p:nvPr/>
        </p:nvSpPr>
        <p:spPr>
          <a:xfrm>
            <a:off x="2743200" y="21945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false “packed” claims on impossible cases</a:t>
            </a:r>
            <a:endParaRPr lang="en-US" sz="1300" dirty="0"/>
          </a:p>
        </p:txBody>
      </p:sp>
      <p:sp>
        <p:nvSpPr>
          <p:cNvPr id="9" name="card-89"/>
          <p:cNvSpPr/>
          <p:nvPr/>
        </p:nvSpPr>
        <p:spPr>
          <a:xfrm>
            <a:off x="4663440" y="1143000"/>
            <a:ext cx="1920240" cy="2240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xt-90"/>
          <p:cNvSpPr txBox="1"/>
          <p:nvPr/>
        </p:nvSpPr>
        <p:spPr>
          <a:xfrm>
            <a:off x="475488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20 / 20</a:t>
            </a:r>
            <a:endParaRPr lang="en-US" sz="3400" dirty="0"/>
          </a:p>
        </p:txBody>
      </p:sp>
      <p:sp>
        <p:nvSpPr>
          <p:cNvPr id="11" name="txt-91"/>
          <p:cNvSpPr txBox="1"/>
          <p:nvPr/>
        </p:nvSpPr>
        <p:spPr>
          <a:xfrm>
            <a:off x="4846320" y="21945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known-feasible recall on zero-slack exact fills (up from 3 / 20, then 15 / 20)</a:t>
            </a:r>
            <a:endParaRPr lang="en-US" sz="1300" dirty="0"/>
          </a:p>
        </p:txBody>
      </p:sp>
      <p:sp>
        <p:nvSpPr>
          <p:cNvPr id="12" name="card-92"/>
          <p:cNvSpPr/>
          <p:nvPr/>
        </p:nvSpPr>
        <p:spPr>
          <a:xfrm>
            <a:off x="6766560" y="1143000"/>
            <a:ext cx="1920240" cy="2240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xt-93"/>
          <p:cNvSpPr txBox="1"/>
          <p:nvPr/>
        </p:nvSpPr>
        <p:spPr>
          <a:xfrm>
            <a:off x="685800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20 / 28</a:t>
            </a:r>
            <a:endParaRPr lang="en-US" sz="3400" dirty="0"/>
          </a:p>
        </p:txBody>
      </p:sp>
      <p:sp>
        <p:nvSpPr>
          <p:cNvPr id="14" name="txt-94"/>
          <p:cNvSpPr txBox="1"/>
          <p:nvPr/>
        </p:nvSpPr>
        <p:spPr>
          <a:xfrm>
            <a:off x="6949440" y="21945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naive-baseline layouts break a safety rule</a:t>
            </a:r>
            <a:endParaRPr lang="en-US" sz="1300" dirty="0"/>
          </a:p>
        </p:txBody>
      </p:sp>
      <p:sp>
        <p:nvSpPr>
          <p:cNvPr id="15" name="card-95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6" name="txt-96"/>
          <p:cNvSpPr txBox="1"/>
          <p:nvPr/>
        </p:nvSpPr>
        <p:spPr>
          <a:xfrm>
            <a:off x="685800" y="3611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Extraction (30 products, holdout 10): 100% parse, dims ±1 cm 100%, honesty 100%, estimated-dim error 13%.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cost savings claimed: 0 SAR vs baseline on the 8 fixtures where both are valid. Source: eval/results/packing-2026-10-21-engine-0.2.json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Monitoring: seven metrics, one trace per run</a:t>
            </a:r>
            <a:endParaRPr lang="en-US" sz="3000" dirty="0"/>
          </a:p>
        </p:txBody>
      </p:sp>
      <p:sp>
        <p:nvSpPr>
          <p:cNvPr id="5" name="mkey-98"/>
          <p:cNvSpPr/>
          <p:nvPr/>
        </p:nvSpPr>
        <p:spPr>
          <a:xfrm>
            <a:off x="4663440" y="112471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6" name="txt-99"/>
          <p:cNvSpPr txBox="1"/>
          <p:nvPr/>
        </p:nvSpPr>
        <p:spPr>
          <a:xfrm>
            <a:off x="4663440" y="11247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</a:t>
            </a:r>
            <a:endParaRPr lang="en-US" sz="1100" dirty="0"/>
          </a:p>
        </p:txBody>
      </p:sp>
      <p:sp>
        <p:nvSpPr>
          <p:cNvPr id="7" name="txt-100"/>
          <p:cNvSpPr txBox="1"/>
          <p:nvPr/>
        </p:nvSpPr>
        <p:spPr>
          <a:xfrm>
            <a:off x="530352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correction rate</a:t>
            </a:r>
            <a:endParaRPr lang="en-US" sz="1300" dirty="0"/>
          </a:p>
        </p:txBody>
      </p:sp>
      <p:sp>
        <p:nvSpPr>
          <p:cNvPr id="8" name="mkey-101"/>
          <p:cNvSpPr/>
          <p:nvPr/>
        </p:nvSpPr>
        <p:spPr>
          <a:xfrm>
            <a:off x="4663440" y="149047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9" name="txt-102"/>
          <p:cNvSpPr txBox="1"/>
          <p:nvPr/>
        </p:nvSpPr>
        <p:spPr>
          <a:xfrm>
            <a:off x="4663440" y="14904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M2</a:t>
            </a:r>
            <a:endParaRPr lang="en-US" sz="1100" dirty="0"/>
          </a:p>
        </p:txBody>
      </p:sp>
      <p:sp>
        <p:nvSpPr>
          <p:cNvPr id="10" name="txt-103"/>
          <p:cNvSpPr txBox="1"/>
          <p:nvPr/>
        </p:nvSpPr>
        <p:spPr>
          <a:xfrm>
            <a:off x="530352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Data-source mix</a:t>
            </a:r>
            <a:endParaRPr lang="en-US" sz="1300" dirty="0"/>
          </a:p>
        </p:txBody>
      </p:sp>
      <p:sp>
        <p:nvSpPr>
          <p:cNvPr id="11" name="mkey-104"/>
          <p:cNvSpPr/>
          <p:nvPr/>
        </p:nvSpPr>
        <p:spPr>
          <a:xfrm>
            <a:off x="4663440" y="185623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12" name="txt-105"/>
          <p:cNvSpPr txBox="1"/>
          <p:nvPr/>
        </p:nvSpPr>
        <p:spPr>
          <a:xfrm>
            <a:off x="4663440" y="1856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</a:t>
            </a:r>
            <a:endParaRPr lang="en-US" sz="1100" dirty="0"/>
          </a:p>
        </p:txBody>
      </p:sp>
      <p:sp>
        <p:nvSpPr>
          <p:cNvPr id="13" name="txt-106"/>
          <p:cNvSpPr txBox="1"/>
          <p:nvPr/>
        </p:nvSpPr>
        <p:spPr>
          <a:xfrm>
            <a:off x="5303520" y="1828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Validator rejections (must be 0)</a:t>
            </a:r>
            <a:endParaRPr lang="en-US" sz="1300" dirty="0"/>
          </a:p>
        </p:txBody>
      </p:sp>
      <p:sp>
        <p:nvSpPr>
          <p:cNvPr id="14" name="mkey-107"/>
          <p:cNvSpPr/>
          <p:nvPr/>
        </p:nvSpPr>
        <p:spPr>
          <a:xfrm>
            <a:off x="4663440" y="222199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15" name="txt-108"/>
          <p:cNvSpPr txBox="1"/>
          <p:nvPr/>
        </p:nvSpPr>
        <p:spPr>
          <a:xfrm>
            <a:off x="4663440" y="2221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M4</a:t>
            </a:r>
            <a:endParaRPr lang="en-US" sz="1100" dirty="0"/>
          </a:p>
        </p:txBody>
      </p:sp>
      <p:sp>
        <p:nvSpPr>
          <p:cNvPr id="16" name="txt-109"/>
          <p:cNvSpPr txBox="1"/>
          <p:nvPr/>
        </p:nvSpPr>
        <p:spPr>
          <a:xfrm>
            <a:off x="530352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No-carton rate</a:t>
            </a:r>
            <a:endParaRPr lang="en-US" sz="1300" dirty="0"/>
          </a:p>
        </p:txBody>
      </p:sp>
      <p:sp>
        <p:nvSpPr>
          <p:cNvPr id="17" name="mkey-110"/>
          <p:cNvSpPr/>
          <p:nvPr/>
        </p:nvSpPr>
        <p:spPr>
          <a:xfrm>
            <a:off x="4663440" y="258775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18" name="txt-111"/>
          <p:cNvSpPr txBox="1"/>
          <p:nvPr/>
        </p:nvSpPr>
        <p:spPr>
          <a:xfrm>
            <a:off x="4663440" y="2587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19" name="txt-112"/>
          <p:cNvSpPr txBox="1"/>
          <p:nvPr/>
        </p:nvSpPr>
        <p:spPr>
          <a:xfrm>
            <a:off x="5303520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p50 / p95 latency, cached vs uncached</a:t>
            </a:r>
            <a:endParaRPr lang="en-US" sz="1300" dirty="0"/>
          </a:p>
        </p:txBody>
      </p:sp>
      <p:sp>
        <p:nvSpPr>
          <p:cNvPr id="20" name="mkey-113"/>
          <p:cNvSpPr/>
          <p:nvPr/>
        </p:nvSpPr>
        <p:spPr>
          <a:xfrm>
            <a:off x="4663440" y="295351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21" name="txt-114"/>
          <p:cNvSpPr txBox="1"/>
          <p:nvPr/>
        </p:nvSpPr>
        <p:spPr>
          <a:xfrm>
            <a:off x="4663440" y="2953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22" name="txt-115"/>
          <p:cNvSpPr txBox="1"/>
          <p:nvPr/>
        </p:nvSpPr>
        <p:spPr>
          <a:xfrm>
            <a:off x="530352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Gemini failure rate</a:t>
            </a:r>
            <a:endParaRPr lang="en-US" sz="1300" dirty="0"/>
          </a:p>
        </p:txBody>
      </p:sp>
      <p:sp>
        <p:nvSpPr>
          <p:cNvPr id="23" name="mkey-116"/>
          <p:cNvSpPr/>
          <p:nvPr/>
        </p:nvSpPr>
        <p:spPr>
          <a:xfrm>
            <a:off x="4663440" y="3319272"/>
            <a:ext cx="50292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24" name="txt-117"/>
          <p:cNvSpPr txBox="1"/>
          <p:nvPr/>
        </p:nvSpPr>
        <p:spPr>
          <a:xfrm>
            <a:off x="4663440" y="3319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M7</a:t>
            </a:r>
            <a:endParaRPr lang="en-US" sz="1100" dirty="0"/>
          </a:p>
        </p:txBody>
      </p:sp>
      <p:sp>
        <p:nvSpPr>
          <p:cNvPr id="25" name="txt-118"/>
          <p:cNvSpPr txBox="1"/>
          <p:nvPr/>
        </p:nvSpPr>
        <p:spPr>
          <a:xfrm>
            <a:off x="530352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Cost per order + cache hits</a:t>
            </a:r>
            <a:endParaRPr lang="en-US" sz="1300" dirty="0"/>
          </a:p>
        </p:txBody>
      </p:sp>
      <p:sp>
        <p:nvSpPr>
          <p:cNvPr id="26" name="card-119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7" name="txt-120"/>
          <p:cNvSpPr txBox="1"/>
          <p:nvPr/>
        </p:nvSpPr>
        <p:spPr>
          <a:xfrm>
            <a:off x="685800" y="3794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Investigation: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eval showed recall 3 / 20 → traced fixture feasible-05 (every score preferred flat items) → added “tight” scores → 15 / 20, validity still 100%, regression test added.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8" name="img-monitoring" descr="04-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5855"/>
            <a:ext cx="3931920" cy="245745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Limits, and what we ask for next</a:t>
            </a:r>
            <a:endParaRPr lang="en-US" sz="3000" dirty="0"/>
          </a:p>
        </p:txBody>
      </p:sp>
      <p:sp>
        <p:nvSpPr>
          <p:cNvPr id="3" name="txt-121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does not do yet</a:t>
            </a:r>
            <a:endParaRPr lang="en-US" sz="1600" dirty="0"/>
          </a:p>
        </p:txBody>
      </p:sp>
      <p:sp>
        <p:nvSpPr>
          <p:cNvPr id="4" name="limits-list"/>
          <p:cNvSpPr txBox="1"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Synthetic data (30 products, written by the team)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Rigid box-shaped products only, one carton per order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Illustrative costs, always labeled “estimated”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Heuristic search: not globally optimal (finds 20 / 20 exact fills, but time-bounded)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crush-strength or void-fill modeling; no live Salla / Zid link</a:t>
            </a:r>
            <a:endParaRPr lang="en-US" sz="1300" dirty="0"/>
          </a:p>
        </p:txBody>
      </p:sp>
      <p:sp>
        <p:nvSpPr>
          <p:cNvPr id="5" name="ask-card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6" name="txt-122"/>
          <p:cNvSpPr txBox="1"/>
          <p:nvPr/>
        </p:nvSpPr>
        <p:spPr>
          <a:xfrm>
            <a:off x="4983480" y="1280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ask: a pilot with one merchant</a:t>
            </a:r>
            <a:endParaRPr lang="en-US" sz="1800" dirty="0"/>
          </a:p>
        </p:txBody>
      </p:sp>
      <p:sp>
        <p:nvSpPr>
          <p:cNvPr id="7" name="ask-list"/>
          <p:cNvSpPr txBox="1"/>
          <p:nvPr/>
        </p:nvSpPr>
        <p:spPr>
          <a:xfrm>
            <a:off x="4983480" y="20574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100 real orders: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packer and Rassah side by side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Measured: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carton spend, courier invoices, damage, packing time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Then: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Salla / Zid integration, multi-carton orders, scale-weight feedback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Team and who presents what</a:t>
            </a:r>
            <a:endParaRPr lang="en-US" sz="3000" dirty="0"/>
          </a:p>
        </p:txBody>
      </p:sp>
      <p:sp>
        <p:nvSpPr>
          <p:cNvPr id="3" name="card-123"/>
          <p:cNvSpPr/>
          <p:nvPr/>
        </p:nvSpPr>
        <p:spPr>
          <a:xfrm>
            <a:off x="457200" y="1143000"/>
            <a:ext cx="2596896" cy="28803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badge-124"/>
          <p:cNvSpPr/>
          <p:nvPr/>
        </p:nvSpPr>
        <p:spPr>
          <a:xfrm>
            <a:off x="685800" y="137160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badgetxt-125"/>
          <p:cNvSpPr txBox="1"/>
          <p:nvPr/>
        </p:nvSpPr>
        <p:spPr>
          <a:xfrm>
            <a:off x="685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M1</a:t>
            </a:r>
            <a:endParaRPr lang="en-US" sz="1400" dirty="0"/>
          </a:p>
        </p:txBody>
      </p:sp>
      <p:sp>
        <p:nvSpPr>
          <p:cNvPr id="6" name="txt-126"/>
          <p:cNvSpPr txBox="1"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&amp; Data</a:t>
            </a:r>
            <a:endParaRPr lang="en-US" sz="1600" dirty="0"/>
          </a:p>
        </p:txBody>
      </p:sp>
      <p:sp>
        <p:nvSpPr>
          <p:cNvPr id="7" name="txt-127"/>
          <p:cNvSpPr txBox="1"/>
          <p:nvPr/>
        </p:nvSpPr>
        <p:spPr>
          <a:xfrm>
            <a:off x="68580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Gemini extraction, synthetic dataset, extraction eval</a:t>
            </a:r>
            <a:endParaRPr lang="en-US" sz="1300" dirty="0"/>
          </a:p>
        </p:txBody>
      </p:sp>
      <p:sp>
        <p:nvSpPr>
          <p:cNvPr id="8" name="txt-128"/>
          <p:cNvSpPr txBox="1"/>
          <p:nvPr/>
        </p:nvSpPr>
        <p:spPr>
          <a:xfrm>
            <a:off x="68580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Slides 1–5 · 0:00–1:00</a:t>
            </a:r>
            <a:endParaRPr lang="en-US" sz="1200" dirty="0"/>
          </a:p>
        </p:txBody>
      </p:sp>
      <p:sp>
        <p:nvSpPr>
          <p:cNvPr id="9" name="card-129"/>
          <p:cNvSpPr/>
          <p:nvPr/>
        </p:nvSpPr>
        <p:spPr>
          <a:xfrm>
            <a:off x="3273552" y="1143000"/>
            <a:ext cx="2596896" cy="28803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badge-130"/>
          <p:cNvSpPr/>
          <p:nvPr/>
        </p:nvSpPr>
        <p:spPr>
          <a:xfrm>
            <a:off x="3502152" y="137160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1" name="badgetxt-131"/>
          <p:cNvSpPr txBox="1"/>
          <p:nvPr/>
        </p:nvSpPr>
        <p:spPr>
          <a:xfrm>
            <a:off x="350215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M2</a:t>
            </a:r>
            <a:endParaRPr lang="en-US" sz="1400" dirty="0"/>
          </a:p>
        </p:txBody>
      </p:sp>
      <p:sp>
        <p:nvSpPr>
          <p:cNvPr id="12" name="txt-132"/>
          <p:cNvSpPr txBox="1"/>
          <p:nvPr/>
        </p:nvSpPr>
        <p:spPr>
          <a:xfrm>
            <a:off x="3502152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 &amp; UI</a:t>
            </a:r>
            <a:endParaRPr lang="en-US" sz="1600" dirty="0"/>
          </a:p>
        </p:txBody>
      </p:sp>
      <p:sp>
        <p:nvSpPr>
          <p:cNvPr id="13" name="txt-133"/>
          <p:cNvSpPr txBox="1"/>
          <p:nvPr/>
        </p:nvSpPr>
        <p:spPr>
          <a:xfrm>
            <a:off x="3502152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Packing engine, validator, result page, 3D view</a:t>
            </a:r>
            <a:endParaRPr lang="en-US" sz="1300" dirty="0"/>
          </a:p>
        </p:txBody>
      </p:sp>
      <p:sp>
        <p:nvSpPr>
          <p:cNvPr id="14" name="txt-134"/>
          <p:cNvSpPr txBox="1"/>
          <p:nvPr/>
        </p:nvSpPr>
        <p:spPr>
          <a:xfrm>
            <a:off x="3502152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Slides 6–7 · 1:00–2:20 (live demo)</a:t>
            </a:r>
            <a:endParaRPr lang="en-US" sz="1200" dirty="0"/>
          </a:p>
        </p:txBody>
      </p:sp>
      <p:sp>
        <p:nvSpPr>
          <p:cNvPr id="15" name="card-135"/>
          <p:cNvSpPr/>
          <p:nvPr/>
        </p:nvSpPr>
        <p:spPr>
          <a:xfrm>
            <a:off x="6089904" y="1143000"/>
            <a:ext cx="2596896" cy="28803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badge-136"/>
          <p:cNvSpPr/>
          <p:nvPr/>
        </p:nvSpPr>
        <p:spPr>
          <a:xfrm>
            <a:off x="6318504" y="137160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7" name="badgetxt-137"/>
          <p:cNvSpPr txBox="1"/>
          <p:nvPr/>
        </p:nvSpPr>
        <p:spPr>
          <a:xfrm>
            <a:off x="631850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M3</a:t>
            </a:r>
            <a:endParaRPr lang="en-US" sz="1400" dirty="0"/>
          </a:p>
        </p:txBody>
      </p:sp>
      <p:sp>
        <p:nvSpPr>
          <p:cNvPr id="18" name="txt-138"/>
          <p:cNvSpPr txBox="1"/>
          <p:nvPr/>
        </p:nvSpPr>
        <p:spPr>
          <a:xfrm>
            <a:off x="631850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Platform &amp; Monitoring</a:t>
            </a:r>
            <a:endParaRPr lang="en-US" sz="1600" dirty="0"/>
          </a:p>
        </p:txBody>
      </p:sp>
      <p:sp>
        <p:nvSpPr>
          <p:cNvPr id="19" name="txt-139"/>
          <p:cNvSpPr txBox="1"/>
          <p:nvPr/>
        </p:nvSpPr>
        <p:spPr>
          <a:xfrm>
            <a:off x="6318504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Next.js, Supabase, events, dashboard, alerts, CI</a:t>
            </a:r>
            <a:endParaRPr lang="en-US" sz="1300" dirty="0"/>
          </a:p>
        </p:txBody>
      </p:sp>
      <p:sp>
        <p:nvSpPr>
          <p:cNvPr id="20" name="txt-140"/>
          <p:cNvSpPr txBox="1"/>
          <p:nvPr/>
        </p:nvSpPr>
        <p:spPr>
          <a:xfrm>
            <a:off x="6318504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Slides 8–11 · 2:20–3:00</a:t>
            </a:r>
            <a:endParaRPr lang="en-US" sz="1200" dirty="0"/>
          </a:p>
        </p:txBody>
      </p:sp>
      <p:sp>
        <p:nvSpPr>
          <p:cNvPr id="21" name="txt-14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Every member can explain every part: each one walks through code another member wrote.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42"/>
          <p:cNvSpPr txBox="1"/>
          <p:nvPr/>
        </p:nvSpPr>
        <p:spPr>
          <a:xfrm>
            <a:off x="548640" y="822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xt-143"/>
          <p:cNvSpPr txBox="1"/>
          <p:nvPr/>
        </p:nvSpPr>
        <p:spPr>
          <a:xfrm>
            <a:off x="548640" y="1645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شكراً</a:t>
            </a:r>
            <a:endParaRPr lang="en-US" sz="3600" dirty="0"/>
          </a:p>
        </p:txBody>
      </p:sp>
      <p:sp>
        <p:nvSpPr>
          <p:cNvPr id="4" name="txt-144"/>
          <p:cNvSpPr txBox="1"/>
          <p:nvPr/>
        </p:nvSpPr>
        <p:spPr>
          <a:xfrm>
            <a:off x="54864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Repository</a:t>
            </a:r>
            <a:endParaRPr lang="en-US" sz="1400" dirty="0"/>
          </a:p>
        </p:txBody>
      </p:sp>
      <p:sp>
        <p:nvSpPr>
          <p:cNvPr id="5" name="txt-145"/>
          <p:cNvSpPr txBox="1"/>
          <p:nvPr/>
        </p:nvSpPr>
        <p:spPr>
          <a:xfrm>
            <a:off x="2194560" y="2743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github.com/justAbdulaziz10/Rassah</a:t>
            </a:r>
            <a:endParaRPr lang="en-US" sz="1800" dirty="0"/>
          </a:p>
        </p:txBody>
      </p:sp>
      <p:sp>
        <p:nvSpPr>
          <p:cNvPr id="6" name="txt-146"/>
          <p:cNvSpPr txBox="1"/>
          <p:nvPr/>
        </p:nvSpPr>
        <p:spPr>
          <a:xfrm>
            <a:off x="54864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Live app</a:t>
            </a:r>
            <a:endParaRPr lang="en-US" sz="1400" dirty="0"/>
          </a:p>
        </p:txBody>
      </p:sp>
      <p:sp>
        <p:nvSpPr>
          <p:cNvPr id="7" name="txt-147"/>
          <p:cNvSpPr txBox="1"/>
          <p:nvPr/>
        </p:nvSpPr>
        <p:spPr>
          <a:xfrm>
            <a:off x="2194560" y="3291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https://rassah.vercel.app</a:t>
            </a:r>
            <a:endParaRPr lang="en-US" sz="1800" dirty="0"/>
          </a:p>
        </p:txBody>
      </p:sp>
      <p:sp>
        <p:nvSpPr>
          <p:cNvPr id="8" name="txt-148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Questions welcome. Appendix: architecture, development flow, monitoring flow, metrics, tools.</a:t>
            </a:r>
            <a:endParaRPr lang="en-US" sz="1200" dirty="0"/>
          </a:p>
        </p:txBody>
      </p:sp>
      <p:sp>
        <p:nvSpPr>
          <p:cNvPr id="9" name="motif-close-1"/>
          <p:cNvSpPr/>
          <p:nvPr/>
        </p:nvSpPr>
        <p:spPr>
          <a:xfrm>
            <a:off x="6400800" y="1417320"/>
            <a:ext cx="2011680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motif-close-2"/>
          <p:cNvSpPr/>
          <p:nvPr/>
        </p:nvSpPr>
        <p:spPr>
          <a:xfrm>
            <a:off x="6720840" y="502920"/>
            <a:ext cx="1143000" cy="86868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1" name="motif-close-3"/>
          <p:cNvSpPr/>
          <p:nvPr/>
        </p:nvSpPr>
        <p:spPr>
          <a:xfrm>
            <a:off x="7909560" y="86868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Appendix: system architecture</a:t>
            </a:r>
            <a:endParaRPr lang="en-US" sz="3000" dirty="0"/>
          </a:p>
        </p:txBody>
      </p:sp>
      <p:pic>
        <p:nvPicPr>
          <p:cNvPr id="3" name="img-architecture" descr="Architecture: browser pages to Next.js route handlers, pipeline, AI, engine, monitoring and DB modules, to Gemini and Sup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05840"/>
            <a:ext cx="6583680" cy="35957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Appendix: development flow</a:t>
            </a:r>
            <a:endParaRPr lang="en-US" sz="3000" dirty="0"/>
          </a:p>
        </p:txBody>
      </p:sp>
      <p:sp>
        <p:nvSpPr>
          <p:cNvPr id="3" name="df-149"/>
          <p:cNvSpPr/>
          <p:nvPr/>
        </p:nvSpPr>
        <p:spPr>
          <a:xfrm>
            <a:off x="457200" y="1188720"/>
            <a:ext cx="1234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xt-150"/>
          <p:cNvSpPr txBox="1"/>
          <p:nvPr/>
        </p:nvSpPr>
        <p:spPr>
          <a:xfrm>
            <a:off x="502920" y="11887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Agent worktrees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/>
            </a:r>
            <a:endParaRPr lang="en-US" sz="1200" dirty="0"/>
          </a:p>
        </p:txBody>
      </p:sp>
      <p:sp>
        <p:nvSpPr>
          <p:cNvPr id="5" name="arrow-151"/>
          <p:cNvSpPr/>
          <p:nvPr/>
        </p:nvSpPr>
        <p:spPr>
          <a:xfrm>
            <a:off x="1719072" y="155448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df-152"/>
          <p:cNvSpPr/>
          <p:nvPr/>
        </p:nvSpPr>
        <p:spPr>
          <a:xfrm>
            <a:off x="1920240" y="1188720"/>
            <a:ext cx="132588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xt-153"/>
          <p:cNvSpPr txBox="1"/>
          <p:nvPr/>
        </p:nvSpPr>
        <p:spPr>
          <a:xfrm>
            <a:off x="1965960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 merge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 CI gate</a:t>
            </a:r>
            <a:endParaRPr lang="en-US" sz="1200" dirty="0"/>
          </a:p>
        </p:txBody>
      </p:sp>
      <p:sp>
        <p:nvSpPr>
          <p:cNvPr id="8" name="arrow-154"/>
          <p:cNvSpPr/>
          <p:nvPr/>
        </p:nvSpPr>
        <p:spPr>
          <a:xfrm>
            <a:off x="3273552" y="155448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df-155"/>
          <p:cNvSpPr/>
          <p:nvPr/>
        </p:nvSpPr>
        <p:spPr>
          <a:xfrm>
            <a:off x="3474720" y="1188720"/>
            <a:ext cx="11430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xt-156"/>
          <p:cNvSpPr txBox="1"/>
          <p:nvPr/>
        </p:nvSpPr>
        <p:spPr>
          <a:xfrm>
            <a:off x="3520440" y="1188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Push to main</a:t>
            </a:r>
            <a:endParaRPr lang="en-US" sz="1200" dirty="0"/>
          </a:p>
        </p:txBody>
      </p:sp>
      <p:sp>
        <p:nvSpPr>
          <p:cNvPr id="11" name="arrow-157"/>
          <p:cNvSpPr/>
          <p:nvPr/>
        </p:nvSpPr>
        <p:spPr>
          <a:xfrm>
            <a:off x="4645152" y="155448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df-158"/>
          <p:cNvSpPr/>
          <p:nvPr/>
        </p:nvSpPr>
        <p:spPr>
          <a:xfrm>
            <a:off x="4846320" y="1188720"/>
            <a:ext cx="2103120" cy="73152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txt-159"/>
          <p:cNvSpPr txBox="1"/>
          <p:nvPr/>
        </p:nvSpPr>
        <p:spPr>
          <a:xfrm>
            <a:off x="489204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 Actions CI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(lint, types, data, tests)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/>
            </a:r>
            <a:endParaRPr lang="en-US" sz="1200" dirty="0"/>
          </a:p>
        </p:txBody>
      </p:sp>
      <p:sp>
        <p:nvSpPr>
          <p:cNvPr id="14" name="arrow-160"/>
          <p:cNvSpPr/>
          <p:nvPr/>
        </p:nvSpPr>
        <p:spPr>
          <a:xfrm>
            <a:off x="6976872" y="155448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df-161"/>
          <p:cNvSpPr/>
          <p:nvPr/>
        </p:nvSpPr>
        <p:spPr>
          <a:xfrm>
            <a:off x="7178040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txt-162"/>
          <p:cNvSpPr txBox="1"/>
          <p:nvPr/>
        </p:nvSpPr>
        <p:spPr>
          <a:xfrm>
            <a:off x="7223760" y="1188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Vercel 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main</a:t>
            </a:r>
            <a:endParaRPr lang="en-US" sz="1200" dirty="0"/>
          </a:p>
        </p:txBody>
      </p:sp>
      <p:sp>
        <p:nvSpPr>
          <p:cNvPr id="17" name="df-163"/>
          <p:cNvSpPr/>
          <p:nvPr/>
        </p:nvSpPr>
        <p:spPr>
          <a:xfrm>
            <a:off x="6949440" y="2514600"/>
            <a:ext cx="173736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8" name="txt-164"/>
          <p:cNvSpPr txBox="1"/>
          <p:nvPr/>
        </p:nvSpPr>
        <p:spPr>
          <a:xfrm>
            <a:off x="6995160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Main updated</a:t>
            </a:r>
            <a:endParaRPr lang="en-US" sz="1200" dirty="0"/>
          </a:p>
        </p:txBody>
      </p:sp>
      <p:sp>
        <p:nvSpPr>
          <p:cNvPr id="19" name="df-165"/>
          <p:cNvSpPr/>
          <p:nvPr/>
        </p:nvSpPr>
        <p:spPr>
          <a:xfrm>
            <a:off x="5074920" y="2514600"/>
            <a:ext cx="16459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txt-166"/>
          <p:cNvSpPr txBox="1"/>
          <p:nvPr/>
        </p:nvSpPr>
        <p:spPr>
          <a:xfrm>
            <a:off x="512064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Production 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smoke test</a:t>
            </a:r>
            <a:endParaRPr lang="en-US" sz="1200" dirty="0"/>
          </a:p>
        </p:txBody>
      </p:sp>
      <p:sp>
        <p:nvSpPr>
          <p:cNvPr id="21" name="df-167"/>
          <p:cNvSpPr/>
          <p:nvPr/>
        </p:nvSpPr>
        <p:spPr>
          <a:xfrm>
            <a:off x="3383280" y="2514600"/>
            <a:ext cx="14630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txt-168"/>
          <p:cNvSpPr txBox="1"/>
          <p:nvPr/>
        </p:nvSpPr>
        <p:spPr>
          <a:xfrm>
            <a:off x="342900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alert rules</a:t>
            </a:r>
            <a:endParaRPr lang="en-US" sz="1200" dirty="0"/>
          </a:p>
        </p:txBody>
      </p:sp>
      <p:sp>
        <p:nvSpPr>
          <p:cNvPr id="23" name="df-169"/>
          <p:cNvSpPr/>
          <p:nvPr/>
        </p:nvSpPr>
        <p:spPr>
          <a:xfrm>
            <a:off x="1874520" y="2514600"/>
            <a:ext cx="128016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txt-170"/>
          <p:cNvSpPr txBox="1"/>
          <p:nvPr/>
        </p:nvSpPr>
        <p:spPr>
          <a:xfrm>
            <a:off x="192024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Investigate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by run_id</a:t>
            </a:r>
            <a:endParaRPr lang="en-US" sz="1200" dirty="0"/>
          </a:p>
        </p:txBody>
      </p:sp>
      <p:sp>
        <p:nvSpPr>
          <p:cNvPr id="25" name="df-171"/>
          <p:cNvSpPr/>
          <p:nvPr/>
        </p:nvSpPr>
        <p:spPr>
          <a:xfrm>
            <a:off x="457200" y="251460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6" name="txt-172"/>
          <p:cNvSpPr txBox="1"/>
          <p:nvPr/>
        </p:nvSpPr>
        <p:spPr>
          <a:xfrm>
            <a:off x="502920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Issue → new worktree</a:t>
            </a:r>
            <a:endParaRPr lang="en-US" sz="1200" dirty="0"/>
          </a:p>
        </p:txBody>
      </p:sp>
      <p:sp>
        <p:nvSpPr>
          <p:cNvPr id="27" name="arrow-173"/>
          <p:cNvSpPr/>
          <p:nvPr/>
        </p:nvSpPr>
        <p:spPr>
          <a:xfrm>
            <a:off x="7818120" y="1938528"/>
            <a:ext cx="0" cy="5486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arrow-174"/>
          <p:cNvSpPr/>
          <p:nvPr/>
        </p:nvSpPr>
        <p:spPr>
          <a:xfrm flipH="1">
            <a:off x="6748272" y="288036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arrow-175"/>
          <p:cNvSpPr/>
          <p:nvPr/>
        </p:nvSpPr>
        <p:spPr>
          <a:xfrm flipH="1">
            <a:off x="4873752" y="288036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arrow-176"/>
          <p:cNvSpPr/>
          <p:nvPr/>
        </p:nvSpPr>
        <p:spPr>
          <a:xfrm flipH="1">
            <a:off x="3182112" y="288036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arrow-177"/>
          <p:cNvSpPr/>
          <p:nvPr/>
        </p:nvSpPr>
        <p:spPr>
          <a:xfrm flipH="1">
            <a:off x="1673352" y="2880360"/>
            <a:ext cx="173736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arrow-178"/>
          <p:cNvSpPr/>
          <p:nvPr/>
        </p:nvSpPr>
        <p:spPr>
          <a:xfrm flipV="1">
            <a:off x="1051560" y="1938528"/>
            <a:ext cx="0" cy="5486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card-179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34" name="txt-180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Prompt or engine change →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eval scripts (eval-extraction, eval-packing) → eval_runs in Supabase → evaluation page + report numbers, compared before pushing.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Appendix: monitoring flow</a:t>
            </a:r>
            <a:endParaRPr lang="en-US" sz="3000" dirty="0"/>
          </a:p>
        </p:txBody>
      </p:sp>
      <p:sp>
        <p:nvSpPr>
          <p:cNvPr id="3" name="card-181"/>
          <p:cNvSpPr/>
          <p:nvPr/>
        </p:nvSpPr>
        <p:spPr>
          <a:xfrm>
            <a:off x="457200" y="114300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xt-182"/>
          <p:cNvSpPr txBox="1"/>
          <p:nvPr/>
        </p:nvSpPr>
        <p:spPr>
          <a:xfrm>
            <a:off x="59436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Pack request</a:t>
            </a:r>
            <a:endParaRPr lang="en-US" sz="1500" dirty="0"/>
          </a:p>
        </p:txBody>
      </p:sp>
      <p:sp>
        <p:nvSpPr>
          <p:cNvPr id="5" name="txt-183"/>
          <p:cNvSpPr txBox="1"/>
          <p:nvPr/>
        </p:nvSpPr>
        <p:spPr>
          <a:xfrm>
            <a:off x="594360" y="1691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run_id + timer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cache → Gemini → engine → validator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packer confirm / edit</a:t>
            </a:r>
            <a:endParaRPr lang="en-US" sz="1200" dirty="0"/>
          </a:p>
        </p:txBody>
      </p:sp>
      <p:sp>
        <p:nvSpPr>
          <p:cNvPr id="6" name="arrow-184"/>
          <p:cNvSpPr/>
          <p:nvPr/>
        </p:nvSpPr>
        <p:spPr>
          <a:xfrm>
            <a:off x="2313432" y="2148840"/>
            <a:ext cx="26517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card-185"/>
          <p:cNvSpPr/>
          <p:nvPr/>
        </p:nvSpPr>
        <p:spPr>
          <a:xfrm>
            <a:off x="2590495" y="114300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8" name="txt-186"/>
          <p:cNvSpPr txBox="1"/>
          <p:nvPr/>
        </p:nvSpPr>
        <p:spPr>
          <a:xfrm>
            <a:off x="2727655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Events written</a:t>
            </a:r>
            <a:endParaRPr lang="en-US" sz="1500" dirty="0"/>
          </a:p>
        </p:txBody>
      </p:sp>
      <p:sp>
        <p:nvSpPr>
          <p:cNvPr id="9" name="txt-187"/>
          <p:cNvSpPr txBox="1"/>
          <p:nvPr/>
        </p:nvSpPr>
        <p:spPr>
          <a:xfrm>
            <a:off x="2727655" y="1691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extraction_events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order_runs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corrections</a:t>
            </a:r>
            <a:endParaRPr lang="en-US" sz="1200" dirty="0"/>
          </a:p>
        </p:txBody>
      </p:sp>
      <p:sp>
        <p:nvSpPr>
          <p:cNvPr id="10" name="arrow-188"/>
          <p:cNvSpPr/>
          <p:nvPr/>
        </p:nvSpPr>
        <p:spPr>
          <a:xfrm>
            <a:off x="4446727" y="2148840"/>
            <a:ext cx="26517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card-189"/>
          <p:cNvSpPr/>
          <p:nvPr/>
        </p:nvSpPr>
        <p:spPr>
          <a:xfrm>
            <a:off x="4723790" y="114300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txt-190"/>
          <p:cNvSpPr txBox="1"/>
          <p:nvPr/>
        </p:nvSpPr>
        <p:spPr>
          <a:xfrm>
            <a:off x="486095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Metrics</a:t>
            </a:r>
            <a:endParaRPr lang="en-US" sz="1500" dirty="0"/>
          </a:p>
        </p:txBody>
      </p:sp>
      <p:sp>
        <p:nvSpPr>
          <p:cNvPr id="13" name="txt-191"/>
          <p:cNvSpPr txBox="1"/>
          <p:nvPr/>
        </p:nvSpPr>
        <p:spPr>
          <a:xfrm>
            <a:off x="4860950" y="1691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M1–M7 over a time window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with sample sizes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(eval traffic excluded)</a:t>
            </a:r>
            <a:endParaRPr lang="en-US" sz="1200" dirty="0"/>
          </a:p>
        </p:txBody>
      </p:sp>
      <p:sp>
        <p:nvSpPr>
          <p:cNvPr id="14" name="arrow-192"/>
          <p:cNvSpPr/>
          <p:nvPr/>
        </p:nvSpPr>
        <p:spPr>
          <a:xfrm>
            <a:off x="6580022" y="2148840"/>
            <a:ext cx="26517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card-193"/>
          <p:cNvSpPr/>
          <p:nvPr/>
        </p:nvSpPr>
        <p:spPr>
          <a:xfrm>
            <a:off x="6857086" y="114300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6" name="txt-194"/>
          <p:cNvSpPr txBox="1"/>
          <p:nvPr/>
        </p:nvSpPr>
        <p:spPr>
          <a:xfrm>
            <a:off x="6994246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Alert rules</a:t>
            </a:r>
            <a:endParaRPr lang="en-US" sz="1500" dirty="0"/>
          </a:p>
        </p:txBody>
      </p:sp>
      <p:sp>
        <p:nvSpPr>
          <p:cNvPr id="17" name="txt-195"/>
          <p:cNvSpPr txBox="1"/>
          <p:nvPr/>
        </p:nvSpPr>
        <p:spPr>
          <a:xfrm>
            <a:off x="6994246" y="1691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threshold + minimum sample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 once, auto-resolve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→ alerts table</a:t>
            </a:r>
            <a:endParaRPr lang="en-US" sz="1200" dirty="0"/>
          </a:p>
        </p:txBody>
      </p:sp>
      <p:sp>
        <p:nvSpPr>
          <p:cNvPr id="18" name="card-196"/>
          <p:cNvSpPr/>
          <p:nvPr/>
        </p:nvSpPr>
        <p:spPr>
          <a:xfrm>
            <a:off x="2606040" y="3520440"/>
            <a:ext cx="2880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9" name="txt-197"/>
          <p:cNvSpPr txBox="1"/>
          <p:nvPr/>
        </p:nvSpPr>
        <p:spPr>
          <a:xfrm>
            <a:off x="2743200" y="3584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 dashboard</a:t>
            </a:r>
            <a:endParaRPr lang="en-US" sz="1400" dirty="0"/>
          </a:p>
        </p:txBody>
      </p:sp>
      <p:sp>
        <p:nvSpPr>
          <p:cNvPr id="20" name="txt-198"/>
          <p:cNvSpPr txBox="1"/>
          <p:nvPr/>
        </p:nvSpPr>
        <p:spPr>
          <a:xfrm>
            <a:off x="2743200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metric tiles, charts, run traces</a:t>
            </a:r>
            <a:endParaRPr lang="en-US" sz="1150" dirty="0"/>
          </a:p>
        </p:txBody>
      </p:sp>
      <p:sp>
        <p:nvSpPr>
          <p:cNvPr id="21" name="card-199"/>
          <p:cNvSpPr/>
          <p:nvPr/>
        </p:nvSpPr>
        <p:spPr>
          <a:xfrm>
            <a:off x="5715000" y="3520440"/>
            <a:ext cx="28803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2" name="txt-200"/>
          <p:cNvSpPr txBox="1"/>
          <p:nvPr/>
        </p:nvSpPr>
        <p:spPr>
          <a:xfrm>
            <a:off x="5852160" y="3584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Alert banner + webhook</a:t>
            </a:r>
            <a:endParaRPr lang="en-US" sz="1400" dirty="0"/>
          </a:p>
        </p:txBody>
      </p:sp>
      <p:sp>
        <p:nvSpPr>
          <p:cNvPr id="23" name="txt-201"/>
          <p:cNvSpPr txBox="1"/>
          <p:nvPr/>
        </p:nvSpPr>
        <p:spPr>
          <a:xfrm>
            <a:off x="5852160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webhook only for real faults, never simulated</a:t>
            </a:r>
            <a:endParaRPr lang="en-US" sz="1150" dirty="0"/>
          </a:p>
        </p:txBody>
      </p:sp>
      <p:sp>
        <p:nvSpPr>
          <p:cNvPr id="24" name="arrow-202"/>
          <p:cNvSpPr/>
          <p:nvPr/>
        </p:nvSpPr>
        <p:spPr>
          <a:xfrm flipH="1">
            <a:off x="4160520" y="3182112"/>
            <a:ext cx="914400" cy="310896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arrow-203"/>
          <p:cNvSpPr/>
          <p:nvPr/>
        </p:nvSpPr>
        <p:spPr>
          <a:xfrm>
            <a:off x="7132320" y="3182112"/>
            <a:ext cx="548640" cy="310896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xt-204"/>
          <p:cNvSpPr txBox="1"/>
          <p:nvPr/>
        </p:nvSpPr>
        <p:spPr>
          <a:xfrm>
            <a:off x="457200" y="3566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Tables: Supabase Postgres. Recomputed on dashboard load and after each run. Full diagrams: docs/report/diagram-monitoring-*.png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Appendix: metric definitions and alerts</a:t>
            </a:r>
            <a:endParaRPr lang="en-US" sz="3000" dirty="0"/>
          </a:p>
        </p:txBody>
      </p:sp>
      <p:graphicFrame>
        <p:nvGraphicFramePr>
          <p:cNvPr id="16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154680"/>
                <a:gridCol w="2286000"/>
                <a:gridCol w="2286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Reveals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Alert rule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AI correction rate (reviewed AI products the packer corrected)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Wrong extractions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 20% of last 30, warning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Data-source mix of packed units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Missing store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 30% unknown in 24 h, info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Validator rejections of engine layouts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Engine bugs (must be 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Any in 24 h, 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No-carton rate + skip reasons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Catalog / margin mismatch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 15% of last 20, warning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p50 / p95 latency, cached vs uncached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Slow Gemini vs slow engine / 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p95 &gt; 8 s uncached / 2 s cached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Gemini failure rate by 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Key, quota, outage, bad output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 10% of last 20, 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Cost per order + cache-hit 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Cache broken, prompt bloat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Shown, no alert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xt-20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Each metric shows its sample size and reads “insufficient data” below its minimum.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Appendix: tools and AI usage</a:t>
            </a:r>
            <a:endParaRPr lang="en-US" sz="3000" dirty="0"/>
          </a:p>
        </p:txBody>
      </p:sp>
      <p:graphicFrame>
        <p:nvGraphicFramePr>
          <p:cNvPr id="17" name="too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2377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Origin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Verified by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Gemini API (Flash tier)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Runtime product extraction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Product 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Extraction eval vs ground truth (30 products), Zod checks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Claude Code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Code drafts, docs, synthetic data, tests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Generated, team-reviewed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152 tests, CI, evals, end-to-end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Next.js 16 + TypeScript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UI + API in one project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Typecheck, build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Supabase Postgres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Catalog cache, events, eval results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RLS, end-to-end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Vercel + GitHub Actions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Hosting, production deploy, CI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CI on every push to main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Vitest · R3F · Recharts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Tests, 3D view, charts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Libraries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Tests, screenshots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xt-20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Full log with limitations per tool: docs/report/TOOLS.md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ssah">
  <a:themeElements>
    <a:clrScheme name="Rassah">
      <a:dk1>
        <a:srgbClr val="17231E"/>
      </a:dk1>
      <a:lt1>
        <a:srgbClr val="FFFFFF"/>
      </a:lt1>
      <a:dk2>
        <a:srgbClr val="0F3D2E"/>
      </a:dk2>
      <a:lt2>
        <a:srgbClr val="EDF2EF"/>
      </a:lt2>
      <a:accent1>
        <a:srgbClr val="C8873A"/>
      </a:accent1>
      <a:accent2>
        <a:srgbClr val="2E7D5B"/>
      </a:accent2>
      <a:accent3>
        <a:srgbClr val="B23A3A"/>
      </a:accent3>
      <a:accent4>
        <a:srgbClr val="5E6E67"/>
      </a:accent4>
      <a:accent5>
        <a:srgbClr val="F3E3C8"/>
      </a:accent5>
      <a:accent6>
        <a:srgbClr val="D6E6DD"/>
      </a:accent6>
      <a:hlink>
        <a:srgbClr val="2E7D5B"/>
      </a:hlink>
      <a:folHlink>
        <a:srgbClr val="5E6E67"/>
      </a:folHlink>
    </a:clrScheme>
    <a:fontScheme name="Rassa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Rassah (رصّة): AI Packing Assistant</dc:title>
  <dc:subject>PptxGenJS Presentation</dc:subject>
  <dc:creator>Rassah team</dc:creator>
  <cp:lastModifiedBy>Rassah team</cp:lastModifiedBy>
  <cp:revision>1</cp:revision>
  <dcterms:created xsi:type="dcterms:W3CDTF">2026-10-20T21:14:00Z</dcterms:created>
  <dcterms:modified xsi:type="dcterms:W3CDTF">2026-10-20T21:14:00Z</dcterms:modified>
</cp:coreProperties>
</file>